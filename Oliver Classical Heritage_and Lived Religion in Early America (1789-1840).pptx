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03619C-8A56-4FBC-81BF-3AEAA575A3CA}">
  <a:tblStyle styleId="{D503619C-8A56-4FBC-81BF-3AEAA575A3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4ac56a47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4ac56a47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c39dcf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9c39dcf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9c39dcfe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9c39dcfe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c39dcfe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9c39dcfe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4ac56a47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4ac56a47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9c39dcfe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9c39dcfe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633075" y="2571750"/>
            <a:ext cx="4493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Allusions</a:t>
            </a:r>
            <a:br>
              <a:rPr lang="en"/>
            </a:br>
            <a:r>
              <a:rPr lang="en"/>
              <a:t>a</a:t>
            </a:r>
            <a:r>
              <a:rPr lang="en"/>
              <a:t>nd </a:t>
            </a:r>
            <a:r>
              <a:rPr lang="en"/>
              <a:t>Magisterial</a:t>
            </a:r>
            <a:r>
              <a:rPr lang="en"/>
              <a:t> Religion in Early America (1789-1840)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175" y="1198650"/>
            <a:ext cx="3166525" cy="386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605088" y="3226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Hypotheses</a:t>
            </a:r>
            <a:r>
              <a:rPr lang="en"/>
              <a:t> 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650800" y="888750"/>
            <a:ext cx="5850300" cy="3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Protestants use more classical allusions than Catholics</a:t>
            </a:r>
            <a:b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Protestants will use Classical allusions more pedagogically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456700" y="202150"/>
            <a:ext cx="58173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Datasets</a:t>
            </a:r>
            <a:endParaRPr b="1"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569000" y="861000"/>
            <a:ext cx="56151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Protestant Sermons (~1790-1840) n=487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Catholic </a:t>
            </a: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Magisterial</a:t>
            </a: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Documents </a:t>
            </a: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(~1790-1840) </a:t>
            </a: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n=40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800" y="2320925"/>
            <a:ext cx="1357649" cy="202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 rotWithShape="1">
          <a:blip r:embed="rId4">
            <a:alphaModFix/>
          </a:blip>
          <a:srcRect b="13782" l="12636" r="10030" t="4911"/>
          <a:stretch/>
        </p:blipFill>
        <p:spPr>
          <a:xfrm>
            <a:off x="2520575" y="2072923"/>
            <a:ext cx="1357650" cy="1738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title="Screenshot 2026-04-27 at 15.09.1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0400" y="2320924"/>
            <a:ext cx="2552300" cy="152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16"/>
          <p:cNvGraphicFramePr/>
          <p:nvPr/>
        </p:nvGraphicFramePr>
        <p:xfrm>
          <a:off x="697975" y="144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{D503619C-8A56-4FBC-81BF-3AEAA575A3CA}</a:tableStyleId>
              </a:tblPr>
              <a:tblGrid>
                <a:gridCol w="1899575"/>
                <a:gridCol w="1899575"/>
                <a:gridCol w="1899575"/>
              </a:tblGrid>
              <a:tr h="43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Protestant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Catholic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# of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 Allusions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396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47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# of Allusions/Text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0.815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1.175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" name="Google Shape;107;p16"/>
          <p:cNvSpPr txBox="1"/>
          <p:nvPr/>
        </p:nvSpPr>
        <p:spPr>
          <a:xfrm>
            <a:off x="651350" y="389325"/>
            <a:ext cx="5181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Frequency of Classical Allusions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/>
        </p:nvSpPr>
        <p:spPr>
          <a:xfrm>
            <a:off x="539050" y="411775"/>
            <a:ext cx="6124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Election Sermons</a:t>
            </a:r>
            <a:endParaRPr b="1"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688800" y="950825"/>
            <a:ext cx="4611900" cy="3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Forms a </a:t>
            </a: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Significant</a:t>
            </a: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Distinction in Catholic and Protestant Preaching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# of Allusions/Text = 2.81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Roman Allusion Motiff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675" y="1994100"/>
            <a:ext cx="3538500" cy="2357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 title="Screenshot 2026-04-27 at 16.01.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675" y="2835675"/>
            <a:ext cx="4901400" cy="119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460947" y="336625"/>
            <a:ext cx="58092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 Direct Comparison - The Death of George Washington</a:t>
            </a:r>
            <a:endParaRPr b="1"/>
          </a:p>
        </p:txBody>
      </p:sp>
      <p:sp>
        <p:nvSpPr>
          <p:cNvPr id="121" name="Google Shape;121;p18"/>
          <p:cNvSpPr txBox="1"/>
          <p:nvPr/>
        </p:nvSpPr>
        <p:spPr>
          <a:xfrm>
            <a:off x="532275" y="1167350"/>
            <a:ext cx="4004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Bishop of Baltimore, Discourse on General Washington, February 22, 1800 by </a:t>
            </a: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John Carroll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(12 allusions)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eulogy on the late General George Washington February 22, 1800 by Isaac Braman, A.M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(2 allusions)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900" y="1544000"/>
            <a:ext cx="3823374" cy="281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ctrTitle"/>
          </p:nvPr>
        </p:nvSpPr>
        <p:spPr>
          <a:xfrm>
            <a:off x="133900" y="250550"/>
            <a:ext cx="3519600" cy="157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Tonality of Classical Allusions</a:t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6910400" y="1826750"/>
            <a:ext cx="2193600" cy="26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Carroll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Flourish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Elegance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Sophistication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Derision (i.e Sparta, Rome)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4978775" y="1826750"/>
            <a:ext cx="2148900" cy="22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Braman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Austerity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Biblical 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American typology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350" y="1871725"/>
            <a:ext cx="4539776" cy="296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